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BM Plex Sans Medium"/>
      <p:regular r:id="rId14"/>
    </p:embeddedFont>
    <p:embeddedFont>
      <p:font typeface="IBM Plex Sans Medium"/>
      <p:regular r:id="rId15"/>
    </p:embeddedFont>
    <p:embeddedFont>
      <p:font typeface="IBM Plex Sans Medium"/>
      <p:regular r:id="rId16"/>
    </p:embeddedFont>
    <p:embeddedFont>
      <p:font typeface="IBM Plex Sans Medium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E-Commerce Sales &amp; Profit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actionable insights to drive revenue growth and profitability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88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94598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9,994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526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Total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16812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49459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526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016812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Order, customer, product, and sales information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49459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$229.86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526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Average Sale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01681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transaction value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49459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$28.66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526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Average Profit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01681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profit per transaction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2245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Sales Range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93790" y="58766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Min: $0.44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4436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Max: $22,638.48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52245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Profit Range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7599521" y="58766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Min: -$6,599.98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64436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Max: $8,399.98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227" y="560070"/>
            <a:ext cx="5091827" cy="63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Preparation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199227" y="1501973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99227" y="1825228"/>
            <a:ext cx="7718346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3"/>
          <p:cNvSpPr/>
          <p:nvPr/>
        </p:nvSpPr>
        <p:spPr>
          <a:xfrm>
            <a:off x="6199227" y="1972747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 Conversion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99227" y="241304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Order Date and Ship Date to datetime format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9227" y="309514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9227" y="3418403"/>
            <a:ext cx="7718346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7"/>
          <p:cNvSpPr/>
          <p:nvPr/>
        </p:nvSpPr>
        <p:spPr>
          <a:xfrm>
            <a:off x="6199227" y="3565922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Verification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99227" y="4006215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 no missing values across all columns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9227" y="4688324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227" y="5011579"/>
            <a:ext cx="7718346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227" y="5159097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99227" y="559939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Added Order Year, Month, and Day of Week columns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227" y="628149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9227" y="6604754"/>
            <a:ext cx="7718346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227" y="6752273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Standardization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99227" y="7192566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Ensured consistent column naming conventions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92743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7766" y="354568"/>
            <a:ext cx="3303627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Sales &amp; Profit Analysis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937766" y="1079897"/>
            <a:ext cx="193452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Monthly Trends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37766" y="1450657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sales: Sep, Nov, Dec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37766" y="1701998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Weakest: June–July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37766" y="1953339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 peaks: March, December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37766" y="2204680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Q4 performance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302" y="1095970"/>
            <a:ext cx="3963352" cy="396335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37766" y="5349359"/>
            <a:ext cx="4056102" cy="1026319"/>
          </a:xfrm>
          <a:prstGeom prst="roundRect">
            <a:avLst>
              <a:gd name="adj" fmla="val 1885"/>
            </a:avLst>
          </a:prstGeom>
          <a:solidFill>
            <a:srgbClr val="484B51"/>
          </a:solidFill>
          <a:ln/>
        </p:spPr>
      </p:sp>
      <p:sp>
        <p:nvSpPr>
          <p:cNvPr id="11" name="Text 7"/>
          <p:cNvSpPr/>
          <p:nvPr/>
        </p:nvSpPr>
        <p:spPr>
          <a:xfrm>
            <a:off x="6066711" y="5478304"/>
            <a:ext cx="161210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066711" y="5757029"/>
            <a:ext cx="3798213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36.4% of sales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66711" y="6040517"/>
            <a:ext cx="3798213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50.8% of profit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0122813" y="5349359"/>
            <a:ext cx="4056221" cy="1026319"/>
          </a:xfrm>
          <a:prstGeom prst="roundRect">
            <a:avLst>
              <a:gd name="adj" fmla="val 1885"/>
            </a:avLst>
          </a:prstGeom>
          <a:solidFill>
            <a:srgbClr val="484B51"/>
          </a:solidFill>
          <a:ln/>
        </p:spPr>
      </p:sp>
      <p:sp>
        <p:nvSpPr>
          <p:cNvPr id="15" name="Text 11"/>
          <p:cNvSpPr/>
          <p:nvPr/>
        </p:nvSpPr>
        <p:spPr>
          <a:xfrm>
            <a:off x="10251758" y="5478304"/>
            <a:ext cx="161210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Furniture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251758" y="5757029"/>
            <a:ext cx="379833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32.3% of sales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251758" y="6040517"/>
            <a:ext cx="379833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margins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37766" y="6504623"/>
            <a:ext cx="8241268" cy="1026319"/>
          </a:xfrm>
          <a:prstGeom prst="roundRect">
            <a:avLst>
              <a:gd name="adj" fmla="val 1885"/>
            </a:avLst>
          </a:prstGeom>
          <a:solidFill>
            <a:srgbClr val="484B51"/>
          </a:solidFill>
          <a:ln/>
        </p:spPr>
      </p:sp>
      <p:sp>
        <p:nvSpPr>
          <p:cNvPr id="19" name="Text 15"/>
          <p:cNvSpPr/>
          <p:nvPr/>
        </p:nvSpPr>
        <p:spPr>
          <a:xfrm>
            <a:off x="6066711" y="6633567"/>
            <a:ext cx="161210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Office Supplies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066711" y="6912293"/>
            <a:ext cx="7983379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42.8% of profit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066711" y="7195780"/>
            <a:ext cx="7983379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performer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937766" y="7724299"/>
            <a:ext cx="2403515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Sub-Category Performance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937766" y="8275439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Profit Drivers: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Copiers, Phones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37766" y="8597622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Loss-Makers: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Tables (major concern), Bookcases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223302" y="8275439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Sales: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Art, Envelopes, Labels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223302" y="8597622"/>
            <a:ext cx="39633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 marketing 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405" y="450533"/>
            <a:ext cx="409598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3405" y="1535906"/>
            <a:ext cx="4385310" cy="1474589"/>
          </a:xfrm>
          <a:prstGeom prst="roundRect">
            <a:avLst>
              <a:gd name="adj" fmla="val 7441"/>
            </a:avLst>
          </a:prstGeom>
          <a:solidFill>
            <a:srgbClr val="292C32"/>
          </a:solidFill>
          <a:ln/>
        </p:spPr>
      </p:sp>
      <p:sp>
        <p:nvSpPr>
          <p:cNvPr id="4" name="Shape 2"/>
          <p:cNvSpPr/>
          <p:nvPr/>
        </p:nvSpPr>
        <p:spPr>
          <a:xfrm>
            <a:off x="573405" y="1513046"/>
            <a:ext cx="4385310" cy="91440"/>
          </a:xfrm>
          <a:prstGeom prst="roundRect">
            <a:avLst>
              <a:gd name="adj" fmla="val 26877"/>
            </a:avLst>
          </a:prstGeom>
          <a:solidFill>
            <a:srgbClr val="FFBC8F"/>
          </a:solidFill>
          <a:ln/>
        </p:spPr>
      </p:sp>
      <p:sp>
        <p:nvSpPr>
          <p:cNvPr id="5" name="Shape 3"/>
          <p:cNvSpPr/>
          <p:nvPr/>
        </p:nvSpPr>
        <p:spPr>
          <a:xfrm>
            <a:off x="2520315" y="1290161"/>
            <a:ext cx="491490" cy="491490"/>
          </a:xfrm>
          <a:prstGeom prst="roundRect">
            <a:avLst>
              <a:gd name="adj" fmla="val 186047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2667714" y="1413034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0095" y="1945481"/>
            <a:ext cx="216872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 Dominance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0095" y="2299692"/>
            <a:ext cx="401193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revenue and profit driver across all segments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2545" y="1535906"/>
            <a:ext cx="4385310" cy="1474589"/>
          </a:xfrm>
          <a:prstGeom prst="roundRect">
            <a:avLst>
              <a:gd name="adj" fmla="val 7441"/>
            </a:avLst>
          </a:prstGeom>
          <a:solidFill>
            <a:srgbClr val="292C32"/>
          </a:solidFill>
          <a:ln/>
        </p:spPr>
      </p:sp>
      <p:sp>
        <p:nvSpPr>
          <p:cNvPr id="10" name="Shape 8"/>
          <p:cNvSpPr/>
          <p:nvPr/>
        </p:nvSpPr>
        <p:spPr>
          <a:xfrm>
            <a:off x="5122545" y="1513046"/>
            <a:ext cx="4385310" cy="91440"/>
          </a:xfrm>
          <a:prstGeom prst="roundRect">
            <a:avLst>
              <a:gd name="adj" fmla="val 26877"/>
            </a:avLst>
          </a:prstGeom>
          <a:solidFill>
            <a:srgbClr val="FFBC8F"/>
          </a:solidFill>
          <a:ln/>
        </p:spPr>
      </p:sp>
      <p:sp>
        <p:nvSpPr>
          <p:cNvPr id="11" name="Shape 9"/>
          <p:cNvSpPr/>
          <p:nvPr/>
        </p:nvSpPr>
        <p:spPr>
          <a:xfrm>
            <a:off x="7069455" y="1290161"/>
            <a:ext cx="491490" cy="491490"/>
          </a:xfrm>
          <a:prstGeom prst="roundRect">
            <a:avLst>
              <a:gd name="adj" fmla="val 186047"/>
            </a:avLst>
          </a:prstGeom>
          <a:solidFill>
            <a:srgbClr val="FFBC8F"/>
          </a:solidFill>
          <a:ln/>
        </p:spPr>
      </p:sp>
      <p:sp>
        <p:nvSpPr>
          <p:cNvPr id="12" name="Text 10"/>
          <p:cNvSpPr/>
          <p:nvPr/>
        </p:nvSpPr>
        <p:spPr>
          <a:xfrm>
            <a:off x="7216854" y="1413034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9235" y="1945481"/>
            <a:ext cx="20479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Segment 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9235" y="2299692"/>
            <a:ext cx="4011930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 Office: highest profit. Consumer: high sales, low margins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71685" y="1535906"/>
            <a:ext cx="4385310" cy="1474589"/>
          </a:xfrm>
          <a:prstGeom prst="roundRect">
            <a:avLst>
              <a:gd name="adj" fmla="val 7441"/>
            </a:avLst>
          </a:prstGeom>
          <a:solidFill>
            <a:srgbClr val="292C3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1685" y="1513046"/>
            <a:ext cx="4385310" cy="91440"/>
          </a:xfrm>
          <a:prstGeom prst="roundRect">
            <a:avLst>
              <a:gd name="adj" fmla="val 26877"/>
            </a:avLst>
          </a:prstGeom>
          <a:solidFill>
            <a:srgbClr val="FFBC8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18595" y="1290161"/>
            <a:ext cx="491490" cy="491490"/>
          </a:xfrm>
          <a:prstGeom prst="roundRect">
            <a:avLst>
              <a:gd name="adj" fmla="val 186047"/>
            </a:avLst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11765994" y="1413034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58375" y="1945481"/>
            <a:ext cx="20479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Tables Crisis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8375" y="2299692"/>
            <a:ext cx="401193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loss category requiring immediate attention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3405" y="3420070"/>
            <a:ext cx="6659880" cy="1212532"/>
          </a:xfrm>
          <a:prstGeom prst="roundRect">
            <a:avLst>
              <a:gd name="adj" fmla="val 9049"/>
            </a:avLst>
          </a:prstGeom>
          <a:solidFill>
            <a:srgbClr val="292C3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3405" y="3397210"/>
            <a:ext cx="6659880" cy="91440"/>
          </a:xfrm>
          <a:prstGeom prst="roundRect">
            <a:avLst>
              <a:gd name="adj" fmla="val 26877"/>
            </a:avLst>
          </a:prstGeom>
          <a:solidFill>
            <a:srgbClr val="FFBC8F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3174325"/>
            <a:ext cx="491490" cy="491490"/>
          </a:xfrm>
          <a:prstGeom prst="roundRect">
            <a:avLst>
              <a:gd name="adj" fmla="val 186047"/>
            </a:avLst>
          </a:prstGeom>
          <a:solidFill>
            <a:srgbClr val="FFBC8F"/>
          </a:solidFill>
          <a:ln/>
        </p:spPr>
      </p:sp>
      <p:sp>
        <p:nvSpPr>
          <p:cNvPr id="24" name="Text 22"/>
          <p:cNvSpPr/>
          <p:nvPr/>
        </p:nvSpPr>
        <p:spPr>
          <a:xfrm>
            <a:off x="3804999" y="3297198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0095" y="3829645"/>
            <a:ext cx="20479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Mid-Year Dip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0095" y="4183856"/>
            <a:ext cx="628650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April–July shows low profitability and sales volatility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97115" y="3420070"/>
            <a:ext cx="6659880" cy="1212532"/>
          </a:xfrm>
          <a:prstGeom prst="roundRect">
            <a:avLst>
              <a:gd name="adj" fmla="val 9049"/>
            </a:avLst>
          </a:prstGeom>
          <a:solidFill>
            <a:srgbClr val="292C32"/>
          </a:solidFill>
          <a:ln/>
        </p:spPr>
      </p:sp>
      <p:sp>
        <p:nvSpPr>
          <p:cNvPr id="28" name="Shape 26"/>
          <p:cNvSpPr/>
          <p:nvPr/>
        </p:nvSpPr>
        <p:spPr>
          <a:xfrm>
            <a:off x="7397115" y="3397210"/>
            <a:ext cx="6659880" cy="91440"/>
          </a:xfrm>
          <a:prstGeom prst="roundRect">
            <a:avLst>
              <a:gd name="adj" fmla="val 26877"/>
            </a:avLst>
          </a:prstGeom>
          <a:solidFill>
            <a:srgbClr val="FFBC8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81310" y="3174325"/>
            <a:ext cx="491490" cy="491490"/>
          </a:xfrm>
          <a:prstGeom prst="roundRect">
            <a:avLst>
              <a:gd name="adj" fmla="val 186047"/>
            </a:avLst>
          </a:prstGeom>
          <a:solidFill>
            <a:srgbClr val="FFBC8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28709" y="3297198"/>
            <a:ext cx="19657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3805" y="3829645"/>
            <a:ext cx="204799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Q4 Critical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3805" y="4183856"/>
            <a:ext cx="628650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Nov–Dec drive 40% of annual revenue with Q1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85361" y="5881807"/>
            <a:ext cx="201513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40%</a:t>
            </a:r>
            <a:endParaRPr lang="en-US" sz="32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262" y="4857869"/>
            <a:ext cx="2457569" cy="245756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73405" y="7520226"/>
            <a:ext cx="6639401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revenue from Q1 &amp; Q4 combined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729549" y="5881807"/>
            <a:ext cx="201513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50.8%</a:t>
            </a:r>
            <a:endParaRPr lang="en-US" sz="32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450" y="4857869"/>
            <a:ext cx="2457569" cy="2457569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417594" y="7520226"/>
            <a:ext cx="6639401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Technology's share of total profit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546" y="441365"/>
            <a:ext cx="5169337" cy="500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Strategic Recommendations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60546" y="1181933"/>
            <a:ext cx="3931325" cy="1819632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5" name="Shape 2"/>
          <p:cNvSpPr/>
          <p:nvPr/>
        </p:nvSpPr>
        <p:spPr>
          <a:xfrm>
            <a:off x="720685" y="1342073"/>
            <a:ext cx="480417" cy="480417"/>
          </a:xfrm>
          <a:prstGeom prst="roundRect">
            <a:avLst>
              <a:gd name="adj" fmla="val 19031561"/>
            </a:avLst>
          </a:prstGeom>
          <a:solidFill>
            <a:srgbClr val="FFBC8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726" y="1474113"/>
            <a:ext cx="216218" cy="2162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685" y="1982629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Optimize Product Mix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20685" y="2328982"/>
            <a:ext cx="3611047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high-margin Technology and Office Supplies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652010" y="1181933"/>
            <a:ext cx="3931444" cy="1819632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0" name="Shape 6"/>
          <p:cNvSpPr/>
          <p:nvPr/>
        </p:nvSpPr>
        <p:spPr>
          <a:xfrm>
            <a:off x="4812149" y="1342073"/>
            <a:ext cx="480417" cy="480417"/>
          </a:xfrm>
          <a:prstGeom prst="roundRect">
            <a:avLst>
              <a:gd name="adj" fmla="val 19031561"/>
            </a:avLst>
          </a:prstGeom>
          <a:solidFill>
            <a:srgbClr val="FFBC8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4189" y="1474113"/>
            <a:ext cx="216218" cy="2162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12149" y="1982629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Seasonal Campaigns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812149" y="2328982"/>
            <a:ext cx="3611166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mid-year months to smooth revenue fluctuations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60546" y="3161705"/>
            <a:ext cx="8022908" cy="1563410"/>
          </a:xfrm>
          <a:prstGeom prst="roundRect">
            <a:avLst>
              <a:gd name="adj" fmla="val 1537"/>
            </a:avLst>
          </a:prstGeom>
          <a:solidFill>
            <a:srgbClr val="484B51"/>
          </a:solidFill>
          <a:ln/>
        </p:spPr>
      </p:sp>
      <p:sp>
        <p:nvSpPr>
          <p:cNvPr id="15" name="Shape 10"/>
          <p:cNvSpPr/>
          <p:nvPr/>
        </p:nvSpPr>
        <p:spPr>
          <a:xfrm>
            <a:off x="720685" y="3321844"/>
            <a:ext cx="480417" cy="480417"/>
          </a:xfrm>
          <a:prstGeom prst="roundRect">
            <a:avLst>
              <a:gd name="adj" fmla="val 19031561"/>
            </a:avLst>
          </a:prstGeom>
          <a:solidFill>
            <a:srgbClr val="FFBC8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726" y="3453884"/>
            <a:ext cx="216218" cy="2162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0685" y="3962400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Address Loss-Makers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20685" y="4308753"/>
            <a:ext cx="7702629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Reassess Tables pricing, marketing, and inventory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46" y="4905256"/>
            <a:ext cx="800814" cy="96095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21500" y="5065395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Consumer Segment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1521500" y="5411748"/>
            <a:ext cx="7061954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profitability via promotions and upselling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46" y="5866209"/>
            <a:ext cx="800814" cy="96095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21500" y="6026348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Low-Sellers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1521500" y="6372701"/>
            <a:ext cx="7061954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Art, Envelopes, Labels strategy</a:t>
            </a:r>
            <a:endParaRPr lang="en-US" sz="1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546" y="6827163"/>
            <a:ext cx="800814" cy="96095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521500" y="6987302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Inventory Planning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1521500" y="7333655"/>
            <a:ext cx="7061954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with Q1 and Q4 seasonal peaks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767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4824" y="2156103"/>
            <a:ext cx="3534847" cy="44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24" y="2969062"/>
            <a:ext cx="5249347" cy="52493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595" y="2951321"/>
            <a:ext cx="2120860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Business Problem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096595" y="3357682"/>
            <a:ext cx="80464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 inefficiency and seasonal sales volatility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096595" y="3725227"/>
            <a:ext cx="2120860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Solution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096595" y="4131588"/>
            <a:ext cx="80464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high-margin segments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96595" y="4407218"/>
            <a:ext cx="80464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low-margin products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96595" y="4682847"/>
            <a:ext cx="80464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seasonal campaigns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96595" y="4958477"/>
            <a:ext cx="80464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Re-evaluate low performers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4824" y="8536543"/>
            <a:ext cx="13640752" cy="600551"/>
          </a:xfrm>
          <a:prstGeom prst="roundRect">
            <a:avLst>
              <a:gd name="adj" fmla="val 3532"/>
            </a:avLst>
          </a:prstGeom>
          <a:solidFill>
            <a:srgbClr val="4D1F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51" y="8741807"/>
            <a:ext cx="176689" cy="1413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4167" y="8713113"/>
            <a:ext cx="130400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interventions, focused marketing, and product mix optimization will improve profitability and reduce losses.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2025-11-22T15:15:15Z</dcterms:created>
  <dcterms:modified xsi:type="dcterms:W3CDTF">2025-11-22T15:15:15Z</dcterms:modified>
</cp:coreProperties>
</file>